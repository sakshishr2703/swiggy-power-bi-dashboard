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684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FF6B00">
              <a:alpha val="20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FF6B00">
              <a:alpha val="15000"/>
            </a:srgbClr>
          </a:solidFill>
          <a:ln w="12700">
            <a:solidFill>
              <a:srgbClr val="FF6B0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🛵 SWIGGY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D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Karo, Phir Jo Chahe Karo!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45720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Food Delivery Analytics Project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February 2026   📊 Power BI Desktop   🗃️ 4 Data Tables   📍 100+ Indian Cities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474720"/>
          </a:xfrm>
          <a:prstGeom prst="rect">
            <a:avLst/>
          </a:prstGeom>
          <a:solidFill>
            <a:srgbClr val="FFF3E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Project Goal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comprehensive Power BI dashboard to analyze Swiggy's food delivery data across Indian cities, enabling data-driven decisions for marketing, operations, and growth strategy.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Data Sources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109728" cy="10972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— 297,154 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721608"/>
            <a:ext cx="109728" cy="10972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94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— 1,048,574 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014216"/>
            <a:ext cx="109728" cy="10972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86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— Item Lookup Table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306824"/>
            <a:ext cx="109728" cy="10972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— 100,000 profiles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20624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Key KPIs at a Glance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691640"/>
            <a:ext cx="1737360" cy="731520"/>
          </a:xfrm>
          <a:prstGeom prst="rect">
            <a:avLst/>
          </a:prstGeom>
          <a:solidFill>
            <a:srgbClr val="252D4A"/>
          </a:solidFill>
          <a:ln w="12700">
            <a:solidFill>
              <a:srgbClr val="3B4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7099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149K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2093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0" y="1691640"/>
            <a:ext cx="1737360" cy="731520"/>
          </a:xfrm>
          <a:prstGeom prst="rect">
            <a:avLst/>
          </a:prstGeom>
          <a:solidFill>
            <a:srgbClr val="252D4A"/>
          </a:solidFill>
          <a:ln w="12700">
            <a:solidFill>
              <a:srgbClr val="3B4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7099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2093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Users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2606040"/>
            <a:ext cx="1737360" cy="731520"/>
          </a:xfrm>
          <a:prstGeom prst="rect">
            <a:avLst/>
          </a:prstGeom>
          <a:solidFill>
            <a:srgbClr val="252D4A"/>
          </a:solidFill>
          <a:ln w="12700">
            <a:solidFill>
              <a:srgbClr val="3B4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624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₹724.92M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46320" y="3008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Revenue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66560" y="2606040"/>
            <a:ext cx="1737360" cy="731520"/>
          </a:xfrm>
          <a:prstGeom prst="rect">
            <a:avLst/>
          </a:prstGeom>
          <a:solidFill>
            <a:srgbClr val="252D4A"/>
          </a:solidFill>
          <a:ln w="12700">
            <a:solidFill>
              <a:srgbClr val="3B4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624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₹122M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66560" y="3008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 Sales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3520440"/>
            <a:ext cx="1737360" cy="731520"/>
          </a:xfrm>
          <a:prstGeom prst="rect">
            <a:avLst/>
          </a:prstGeom>
          <a:solidFill>
            <a:srgbClr val="252D4A"/>
          </a:solidFill>
          <a:ln w="12700">
            <a:solidFill>
              <a:srgbClr val="3B4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5387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₹106M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46320" y="3922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Non-Veg Sales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520440"/>
            <a:ext cx="3657600" cy="7315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538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₹252M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4632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Food Sales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75120" y="353872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City: Tirupati ₹43M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MODEL &amp;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011680"/>
            <a:ext cx="2743200" cy="1188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ORDERS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E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TABLE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E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297,154 rows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37744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23774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rows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User_id, Name, Age,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Gender, Occupation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92240" y="1371600"/>
            <a:ext cx="237744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🍽️ MENU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23774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1,048,574 rows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Menu_id, Restaurant_id,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Price, Cuisine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3657600"/>
            <a:ext cx="237744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🥗 FOOD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4160520"/>
            <a:ext cx="2377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 Table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Food_id, Item,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Food_Type (Veg/Non-Veg)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51760" y="2377440"/>
            <a:ext cx="54864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144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→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0" y="2377440"/>
            <a:ext cx="54864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49224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Restaurant_id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3200400"/>
            <a:ext cx="0" cy="457200"/>
          </a:xfrm>
          <a:prstGeom prst="line">
            <a:avLst/>
          </a:prstGeom>
          <a:noFill/>
          <a:ln w="25400">
            <a:solidFill>
              <a:srgbClr val="FF6B0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5488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Food_id ↕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4297680"/>
            <a:ext cx="2560320" cy="6400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297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Star Schema Design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CITIES PERFORMANCE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Tirupati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108960" y="978408"/>
            <a:ext cx="502920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978408"/>
            <a:ext cx="5029200" cy="2743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9144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₹43M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42646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City, Bangalore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08960" y="1490472"/>
            <a:ext cx="502920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490472"/>
            <a:ext cx="3391786" cy="274320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2186" y="142646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19385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Baner, Pune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0" y="2002536"/>
            <a:ext cx="502920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002536"/>
            <a:ext cx="3157870" cy="274320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8270" y="193852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₹27M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4505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Raipur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08960" y="2514600"/>
            <a:ext cx="502920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2514600"/>
            <a:ext cx="2690037" cy="274320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0437" y="24505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₹23M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29626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Malviya Nagar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08960" y="3026664"/>
            <a:ext cx="502920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3026664"/>
            <a:ext cx="1988288" cy="274320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8688" y="29626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34747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Sultanpur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08960" y="3538728"/>
            <a:ext cx="502920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3538728"/>
            <a:ext cx="1754372" cy="274320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4772" y="34747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39867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Vastrapur, Ahmedabad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08960" y="4050792"/>
            <a:ext cx="502920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4050792"/>
            <a:ext cx="1520456" cy="274320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0856" y="39867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₹13M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4988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Rohini, Delhi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08960" y="4562856"/>
            <a:ext cx="502920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4562856"/>
            <a:ext cx="1403498" cy="274320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3898" y="44988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FFF3E6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Insight: Tirupati leads with ₹43M — 48% more than #2 city. Top 10 cities drive 60%+ of total revenue.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INSIGHTS &amp; DEMOGRAPHICS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783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21–25 Dominates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students aged 21–25 place the highest number of orders. They are single, mobile-first, and highly price-sensitive — ideal for combo deals.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73152" cy="17830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= 80% Revenue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10% of users generate ₹724.92M — 80% of total sales. A VIP loyalty program could significantly reduce churn risk in this tier.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73152" cy="1783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Revenue 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customers currently drive higher revenue. Female-targeted promotions, discounts, and curated content can help bridge this gap and diversify revenue.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71800"/>
            <a:ext cx="73152" cy="1783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Bikaner #1 by Users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520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Bikaner holds the highest user count, rating count, and order count — making it a high-engagement market that may benefit from restaurant expansion.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TRENDS &amp; YEARLY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2024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Year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year — operations just ramping 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192024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05840"/>
            <a:ext cx="192024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2316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2316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+356% Surge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651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growth year — platform expansion, marketing push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005840"/>
            <a:ext cx="192024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005840"/>
            <a:ext cx="192024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2019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-17% Drop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651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 correction after 2018 peak; competition increases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20840" y="1005840"/>
            <a:ext cx="192024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1005840"/>
            <a:ext cx="1920240" cy="5029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2084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2084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2651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maturation; COVID impact on delivery patterns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FFF3E6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Sales Volume by Year (Quantity Amount)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4480560"/>
            <a:ext cx="548640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852160" y="4114800"/>
            <a:ext cx="5486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675120" y="4251960"/>
            <a:ext cx="548640" cy="5029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498080" y="4434840"/>
            <a:ext cx="54864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 CATEGORY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926080" cy="22860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🥗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₹122M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48.4% of total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560320" cy="22860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NON-VEG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₹106M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42.1% of total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1097280" cy="22860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097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🍳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26480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OTHERS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₹24M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2648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 of total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1005840"/>
            <a:ext cx="2377440" cy="2286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₹252M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895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Food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Sales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8952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Cities Combined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2017–2020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8595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Insights from Food Category Analysis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91440" cy="9144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416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Vegetarian food leads by 7.2% over Non-Veg — reflecting India's high vegetarian population preference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315968"/>
            <a:ext cx="91440" cy="9144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28853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onboarding Veg-heavy restaurants in emerging Tier-2 cities to capture latent demand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562856"/>
            <a:ext cx="91440" cy="9144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53542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'Others' category (Eggs, Beverages) at 9.5% shows opportunity for expansion through dedicated filtering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&amp;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0" cy="1188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VIP Program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customers = 80% revenue. Create a tiered loyalty program with exclusive benefits to reduce churn and boost repeat orders.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6012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Youth Marketing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1417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aged 21–25 are the #1 ordering demographic. Run campus campaigns, referral programs, and student meal bundles.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13432"/>
            <a:ext cx="411480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13432"/>
            <a:ext cx="548640" cy="1188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13432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404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Customer Incentives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7706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female-specific discount codes and curated recommendations to close the gender revenue gap.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313432"/>
            <a:ext cx="411480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313432"/>
            <a:ext cx="54864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313432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404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Tier-2 Cities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27706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Bikaner leads in engagement metrics. Replicate success in similar Tier-2 markets with dense youth populations.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666744"/>
            <a:ext cx="411480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66744"/>
            <a:ext cx="5486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66744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37581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2019 Drop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1239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356% growth in 2018, a 17% drop in 2019 needs root cause analysis — was it competition, retention, or seasonal?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666744"/>
            <a:ext cx="411480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66744"/>
            <a:ext cx="5486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666744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7581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Curation by City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41239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restaurant onboarding with local Veg/Non-Veg preference data. High-Veg cities need more vegetarian restaurant partners.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FF6B00">
              <a:alpha val="15000"/>
            </a:srgbClr>
          </a:solidFill>
          <a:ln w="12700">
            <a:solidFill>
              <a:srgbClr val="FF6B0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371600"/>
            <a:ext cx="2286000" cy="2286000"/>
          </a:xfrm>
          <a:prstGeom prst="ellipse">
            <a:avLst/>
          </a:prstGeom>
          <a:solidFill>
            <a:srgbClr val="FF6B00">
              <a:alpha val="20000"/>
            </a:srgbClr>
          </a:solidFill>
          <a:ln w="12700">
            <a:solidFill>
              <a:srgbClr val="FF6B00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48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🛵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743200" y="5486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0" y="1508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Power BI Analytics 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2011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decisions for India's #1 food delivery platform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2560320"/>
            <a:ext cx="18288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743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Power BI Desktop  🗃️ 4 Tables • 1.4M+ Rows  📍 100+ Cities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Karo, Phir Jo Chahe Karo!  •  February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297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❤️ using Power BI  •  Data Analytics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Microsoft Office PowerPoint</Application>
  <PresentationFormat>On-screen Show (16:9)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Power BI Dashboard</dc:title>
  <dc:subject>PptxGenJS Presentation</dc:subject>
  <dc:creator>PptxGenJS</dc:creator>
  <cp:lastModifiedBy>sakshi sharma</cp:lastModifiedBy>
  <cp:revision>2</cp:revision>
  <dcterms:created xsi:type="dcterms:W3CDTF">2026-02-21T07:33:39Z</dcterms:created>
  <dcterms:modified xsi:type="dcterms:W3CDTF">2026-02-21T07:43:22Z</dcterms:modified>
</cp:coreProperties>
</file>